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20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Survey realism: result vs target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Sheet1!$A$2:$A$5</c:f>
              <c:strCache>
                <c:ptCount val="4"/>
                <c:pt idx="0">
                  <c:v>Extraversion ↔ messages (r)</c:v>
                </c:pt>
                <c:pt idx="1">
                  <c:v>Experience dominance</c:v>
                </c:pt>
                <c:pt idx="2">
                  <c:v>Opinions shifted (cited)</c:v>
                </c:pt>
                <c:pt idx="3">
                  <c:v>Wave changes explained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0.53</c:v>
                </c:pt>
                <c:pt idx="1">
                  <c:v>0.83</c:v>
                </c:pt>
                <c:pt idx="2">
                  <c:v>0.117</c:v>
                </c:pt>
                <c:pt idx="3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DADCE0"/>
            </a:solidFill>
          </c:spPr>
          <c:cat>
            <c:strRef>
              <c:f>Sheet1!$A$2:$A$5</c:f>
              <c:strCache>
                <c:ptCount val="4"/>
                <c:pt idx="0">
                  <c:v>Extraversion ↔ messages (r)</c:v>
                </c:pt>
                <c:pt idx="1">
                  <c:v>Experience dominance</c:v>
                </c:pt>
                <c:pt idx="2">
                  <c:v>Opinions shifted (cited)</c:v>
                </c:pt>
                <c:pt idx="3">
                  <c:v>Wave changes explained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</c:v>
                </c:pt>
                <c:pt idx="1">
                  <c:v>0.8</c:v>
                </c:pt>
                <c:pt idx="2">
                  <c:v>0.1</c:v>
                </c:pt>
                <c:pt idx="3">
                  <c:v>0.85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>
                  <a:solidFill>
                    <a:srgbClr val="2021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F636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solidFill>
                <a:srgbClr val="5F636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Team ONE 77. mirava.ai, an always-on world of 1,000 AI agents for rehearsing product launches.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Marketers find out what worked after the money is spent. mirava.ai lets them rehearse the launch first.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Three questions from the template: difference, how it solves the problem, and our USP.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Eight feature groups, all live in the deployed prototype.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Top: the marketer's journey. Bottom: the agent's journey. The attention model gates every model call.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 screen was specified in the mockup before coding; 29 gated screens now pass the pixel check.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Single-writer engine with a Firestore lease; events stream through Pub/Sub BigQuery subscriptions with no glue code.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Gemini 3 only. Model IDs live in one file; engine calls use low reasoning effort and usage accounting.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Estimates use Cloud Run list prices in asia-south1 and OpenRouter Gemini 3 prices on 17 Oct 2026. Observed: engine spend $0.88 on a real day with 149 thoughts.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Four real screens: world lens, Ask, auto plan, and a think-vs-speak conversation.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Insights benchmark 10 questions; the one routing miss has been fixed and pinned by a unit test.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Same engine, new map and population config for every new city or category.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Think vs speak is what makes word of mouth realistic: agents can hold back their budget or doubts.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SaiCharan-99/mirava.ai" TargetMode="External"/><Relationship Id="rId6" Type="http://schemas.openxmlformats.org/officeDocument/2006/relationships/hyperlink" Target="https://mirava-ai-hack.web.ap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b="1">
                <a:latin typeface="Google Sans Flex SemiBold"/>
                <a:ea typeface="Google Sans Flex"/>
                <a:cs typeface="Google Sans Flex"/>
                <a:sym typeface="Google Sans Flex"/>
              </a:rPr>
              <a:t>ONE 77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b="1">
                <a:latin typeface="Google Sans Flex SemiBold"/>
                <a:ea typeface="Google Sans Flex"/>
                <a:cs typeface="Google Sans Flex"/>
                <a:sym typeface="Google Sans Flex"/>
              </a:rPr>
              <a:t>Sai Charan Gobburu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500" b="1">
                <a:latin typeface="Google Sans Flex SemiBold"/>
                <a:ea typeface="Google Sans Flex"/>
                <a:cs typeface="Google Sans Flex"/>
                <a:sym typeface="Google Sans Flex"/>
              </a:rPr>
              <a:t>Retail &amp; Commerce: brands launch products blind. They learn what worked only after the media money is spent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56616" y="1033271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mirava.ai: a wind tunnel for product launches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6616" y="1417320"/>
            <a:ext cx="4160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Rehearse a launch in a </a:t>
            </a:r>
            <a:r>
              <a:rPr sz="150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living city of 1,000 AI agents</a:t>
            </a:r>
            <a:r>
              <a:rPr sz="15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before spending on the real one.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6616" y="2194560"/>
            <a:ext cx="4160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lr>
                <a:srgbClr val="1A73E8"/>
              </a:buClr>
              <a:buChar char="•"/>
            </a:pPr>
            <a:r>
              <a:rPr sz="110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Always-on Indiranagar, Bengaluru </a:t>
            </a: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from OpenStreetMap, running on Cloud Run 24/7 (1 sim day = 1 real hour)</a:t>
            </a:r>
          </a:p>
          <a:p>
            <a:pPr algn="l" marL="182880" indent="-182880">
              <a:spcAft>
                <a:spcPts val="700"/>
              </a:spcAft>
              <a:buClr>
                <a:srgbClr val="1A73E8"/>
              </a:buClr>
              <a:buChar char="•"/>
            </a:pPr>
            <a:r>
              <a:rPr sz="110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Agents with inner lives: </a:t>
            </a: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persona, private memory, routine, money, friends, media diet and an ageing phone</a:t>
            </a:r>
          </a:p>
          <a:p>
            <a:pPr algn="l" marL="182880" indent="-182880">
              <a:spcAft>
                <a:spcPts val="700"/>
              </a:spcAft>
              <a:buClr>
                <a:srgbClr val="1A73E8"/>
              </a:buClr>
              <a:buChar char="•"/>
            </a:pPr>
            <a:r>
              <a:rPr sz="110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Launch Studio: </a:t>
            </a: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reads your creatives, flags risky claims and plans hoardings automatically</a:t>
            </a:r>
          </a:p>
          <a:p>
            <a:pPr algn="l" marL="182880" indent="-182880">
              <a:spcAft>
                <a:spcPts val="700"/>
              </a:spcAft>
              <a:buClr>
                <a:srgbClr val="1A73E8"/>
              </a:buClr>
              <a:buChar char="•"/>
            </a:pPr>
            <a:r>
              <a:rPr sz="110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Watch &amp; ask why: </a:t>
            </a:r>
            <a:r>
              <a:rPr sz="11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who noticed, what they privately thought, what they told friends, who bought. Ask Gemini over the BigQuery log</a:t>
            </a:r>
          </a:p>
        </p:txBody>
      </p:sp>
      <p:pic>
        <p:nvPicPr>
          <p:cNvPr id="75" name="Picture 74" descr="live-world-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71600"/>
            <a:ext cx="4114800" cy="257175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76" name="TextBox 75"/>
          <p:cNvSpPr txBox="1"/>
          <p:nvPr/>
        </p:nvSpPr>
        <p:spPr>
          <a:xfrm>
            <a:off x="4709160" y="40050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Live world on Cloud Run: real OSM streets, 1,000 agents walking, 60 hoarding sites (simulated)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09160" y="4297680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1,000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09160" y="46177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agents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51576" y="4297680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A4335"/>
                </a:solidFill>
                <a:latin typeface="Google Sans Flex SemiBold"/>
                <a:ea typeface="Google Sans Flex SemiBold"/>
                <a:cs typeface="Google Sans Flex SemiBold"/>
              </a:rPr>
              <a:t>435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51576" y="46177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households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93992" y="4297680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9AB00"/>
                </a:solidFill>
                <a:latin typeface="Google Sans Flex SemiBold"/>
                <a:ea typeface="Google Sans Flex SemiBold"/>
                <a:cs typeface="Google Sans Flex SemiBold"/>
              </a:rPr>
              <a:t>7,012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93992" y="46177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relationships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36408" y="4297680"/>
            <a:ext cx="960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E8E3E"/>
                </a:solidFill>
                <a:latin typeface="Google Sans Flex SemiBold"/>
                <a:ea typeface="Google Sans Flex SemiBold"/>
                <a:cs typeface="Google Sans Flex SemiBold"/>
              </a:rPr>
              <a:t>24/7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36408" y="46177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always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56616" y="1033271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Surveys capture what people say. mirava.ai captures what they notice, think, share and buy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56616" y="1463040"/>
            <a:ext cx="2697480" cy="3383280"/>
          </a:xfrm>
          <a:prstGeom prst="roundRect">
            <a:avLst>
              <a:gd name="adj" fmla="val 271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539496" y="1645920"/>
            <a:ext cx="384048" cy="38404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2416" y="16459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How is it different?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9496" y="2212848"/>
            <a:ext cx="2377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lr>
                <a:srgbClr val="1A73E8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Not a one-shot survey or persona chatbot: a persistent city where memory, gossip and word of mouth build up</a:t>
            </a:r>
          </a:p>
          <a:p>
            <a:pPr algn="l" marL="182880" indent="-182880">
              <a:spcAft>
                <a:spcPts val="800"/>
              </a:spcAft>
              <a:buClr>
                <a:srgbClr val="1A73E8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Attention is simulated physically: walking path, hoarding facing and dwell time decide pass / glance / notice</a:t>
            </a:r>
          </a:p>
          <a:p>
            <a:pPr algn="l" marL="182880" indent="-182880">
              <a:spcAft>
                <a:spcPts val="800"/>
              </a:spcAft>
              <a:buClr>
                <a:srgbClr val="1A73E8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Agents keep private thoughts and share only what they choose to say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09544" y="1463040"/>
            <a:ext cx="2697480" cy="3383280"/>
          </a:xfrm>
          <a:prstGeom prst="roundRect">
            <a:avLst>
              <a:gd name="adj" fmla="val 271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3392424" y="1645920"/>
            <a:ext cx="384048" cy="38404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95344" y="16459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How does it solve the problem?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92424" y="2212848"/>
            <a:ext cx="2377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Test creatives, claims and hoarding sites before buying media</a:t>
            </a:r>
          </a:p>
          <a:p>
            <a:pPr algn="l" marL="182880" indent="-182880">
              <a:spcAft>
                <a:spcPts val="8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See notice rates by site and facing, word of mouth, store questions and purchases, all logged exactly</a:t>
            </a:r>
          </a:p>
          <a:p>
            <a:pPr algn="l" marL="182880" indent="-182880">
              <a:spcAft>
                <a:spcPts val="800"/>
              </a:spcAft>
              <a:buClr>
                <a:srgbClr val="1E8E3E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Ask any question in plain English and get SQL, a chart and verbatim quotes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62472" y="1463040"/>
            <a:ext cx="2697480" cy="3383280"/>
          </a:xfrm>
          <a:prstGeom prst="roundRect">
            <a:avLst>
              <a:gd name="adj" fmla="val 271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6245352" y="1645920"/>
            <a:ext cx="384048" cy="38404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48272" y="16459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USP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5352" y="2212848"/>
            <a:ext cx="2377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lr>
                <a:srgbClr val="EA4335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Out-of-home measured, not guessed: which wall, which direction, which audience</a:t>
            </a:r>
          </a:p>
          <a:p>
            <a:pPr algn="l" marL="182880" indent="-182880">
              <a:spcAft>
                <a:spcPts val="800"/>
              </a:spcAft>
              <a:buClr>
                <a:srgbClr val="EA4335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Purchases only when need, budget and intent line up (₹ money and credit per agent)</a:t>
            </a:r>
          </a:p>
          <a:p>
            <a:pPr algn="l" marL="182880" indent="-182880">
              <a:spcAft>
                <a:spcPts val="800"/>
              </a:spcAft>
              <a:buClr>
                <a:srgbClr val="EA4335"/>
              </a:buClr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Runs for about $15/day under a budget governor that never stops the world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56616" y="1188720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512064" y="1389888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01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8136" y="129844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Globe to live city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8136" y="1563624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cobe globe flies into a Phaser pixel city built from OpenStreetMap: 3,501 road nodes, 12,179 places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617720" y="1188720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4773168" y="1389888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02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49240" y="129844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1,000 agents with lives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49240" y="1563624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Persona, needs, routine, money and credit, households, 7,012 relationships, media diet, phone age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56616" y="2130552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512064" y="2331720"/>
            <a:ext cx="420624" cy="420624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03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8136" y="224028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Private layered memory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8136" y="250545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Episodic memories with 768-d embeddings, beliefs and nightly reflection, per agent only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617720" y="2130552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4773168" y="2331720"/>
            <a:ext cx="420624" cy="42062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04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49240" y="224028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Think vs speak chats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49240" y="250545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Private prep, dialogue from share plans (≤10 messages each), private debrief. Exact transcripts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56616" y="3072384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512064" y="3273552"/>
            <a:ext cx="420624" cy="42062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05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8136" y="318211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Launch Studio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8136" y="3447288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Products, posters, reels, posts, newspaper ads, store displays; claim risk, salience, knowledge graph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617720" y="3072384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4773168" y="3273552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06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49240" y="318211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Automatic hoarding plan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49240" y="3447288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Sites and facings chosen from simulated footfall by segment, each with a written reason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56616" y="4014215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512064" y="4215383"/>
            <a:ext cx="420624" cy="420624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07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88136" y="4123944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Channels &amp; stores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88136" y="438912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Hoardings, reels, newspaper, reviewers, community threads; salespeople in fictional stores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617720" y="4014215"/>
            <a:ext cx="4114800" cy="822960"/>
          </a:xfrm>
          <a:prstGeom prst="roundRect">
            <a:avLst>
              <a:gd name="adj" fmla="val 8888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4773168" y="4215383"/>
            <a:ext cx="420624" cy="42062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08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49240" y="4123944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Insights + Ask Gemini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349240" y="438912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Ask, Hoardings, Segments, Funnel, Conversations, Polls and live Interviews over BigQuery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56616" y="1033271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From creative upload to 'why did they buy?'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56616" y="1417320"/>
            <a:ext cx="1298448" cy="1051560"/>
          </a:xfrm>
          <a:prstGeom prst="roundRect">
            <a:avLst>
              <a:gd name="adj" fmla="val 8695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48056" y="149047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STEP 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8056" y="170078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Add product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8056" y="1984248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details, personas, creatives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659636" y="1938528"/>
            <a:ext cx="10972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1773936" y="1417320"/>
            <a:ext cx="1298448" cy="1051560"/>
          </a:xfrm>
          <a:prstGeom prst="roundRect">
            <a:avLst>
              <a:gd name="adj" fmla="val 8695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1865376" y="149047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STEP 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65376" y="170078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Understand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65376" y="1984248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Gemini: claims, salience, graph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3076956" y="1938528"/>
            <a:ext cx="10972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3191256" y="1417320"/>
            <a:ext cx="1298448" cy="1051560"/>
          </a:xfrm>
          <a:prstGeom prst="roundRect">
            <a:avLst>
              <a:gd name="adj" fmla="val 8695"/>
            </a:avLst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282696" y="149047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STEP 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82696" y="170078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Auto plan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82696" y="1984248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hoarding sites + facings with reasons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494276" y="1938528"/>
            <a:ext cx="10972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4608575" y="1417320"/>
            <a:ext cx="1298448" cy="1051560"/>
          </a:xfrm>
          <a:prstGeom prst="roundRect">
            <a:avLst>
              <a:gd name="adj" fmla="val 8695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4700015" y="149047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STEP 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00015" y="170078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Launch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00015" y="1984248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one at a time, firework drop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911595" y="1938528"/>
            <a:ext cx="10972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6025895" y="1417320"/>
            <a:ext cx="1298448" cy="1051560"/>
          </a:xfrm>
          <a:prstGeom prst="roundRect">
            <a:avLst>
              <a:gd name="adj" fmla="val 8695"/>
            </a:avLst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6117335" y="149047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STEP 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17335" y="170078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Live world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17335" y="1984248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notice, think, talk, ask, buy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7328915" y="1938528"/>
            <a:ext cx="10972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7443215" y="1417320"/>
            <a:ext cx="1298448" cy="1051560"/>
          </a:xfrm>
          <a:prstGeom prst="roundRect">
            <a:avLst>
              <a:gd name="adj" fmla="val 8695"/>
            </a:avLst>
          </a:prstGeom>
          <a:solidFill>
            <a:srgbClr val="8E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534655" y="149047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STEP 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34655" y="170078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Insights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34655" y="1984248"/>
            <a:ext cx="11155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Ask Gemini, OOH dashboards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6616" y="26974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Inside the live world: what happens to each agent after launch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56616" y="30632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29768" y="31546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Pass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9768" y="34564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 range, not looking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453895" y="3520440"/>
            <a:ext cx="121616" cy="0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1575511" y="30632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D2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1648663" y="31546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Glance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48663" y="34564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 the cone, brief look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2672791" y="3520440"/>
            <a:ext cx="121615" cy="0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>
            <a:off x="2794406" y="30632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AEC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2867558" y="31546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Notice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867558" y="34564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attention model, no LLM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891686" y="3520440"/>
            <a:ext cx="121615" cy="0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4013301" y="30632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4086453" y="31546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Private thought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86453" y="34564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Gemini, only on notice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5110581" y="3520440"/>
            <a:ext cx="121615" cy="0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/>
          <p:cNvSpPr/>
          <p:nvPr/>
        </p:nvSpPr>
        <p:spPr>
          <a:xfrm>
            <a:off x="5232196" y="30632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669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5305348" y="31546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Talk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305348" y="34564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prep → dialogue → debrief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329476" y="3520440"/>
            <a:ext cx="121616" cy="0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6451092" y="30632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6524244" y="31546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Store inquiry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524244" y="34564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think → decide → speak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7548371" y="3520440"/>
            <a:ext cx="121616" cy="0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7669987" y="30632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7743139" y="3154680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Buy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743139" y="34564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need × budget × intent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56616" y="4160520"/>
            <a:ext cx="8412480" cy="685800"/>
          </a:xfrm>
          <a:prstGeom prst="roundRect">
            <a:avLst>
              <a:gd name="adj" fmla="val 1066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502920" y="422452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Every step emits an event  </a:t>
            </a:r>
            <a:r>
              <a:rPr sz="100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(exposure, thought, message, inquiry, purchase) → Pub/Sub → BigQuery. Private events are flagged private and never enter another agent's prompt. The budget governor approves every background model call; over the cap, work falls back to rules and templates.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Wireframes /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56616" y="1033271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Designed first as a 34-screen interactive mockup (1440×900), then built and checked against it pixel by pixel</a:t>
            </a:r>
          </a:p>
        </p:txBody>
      </p:sp>
      <p:pic>
        <p:nvPicPr>
          <p:cNvPr id="105" name="Picture 104" descr="img_w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1463040"/>
            <a:ext cx="2697480" cy="158102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6" name="TextBox 105"/>
          <p:cNvSpPr txBox="1"/>
          <p:nvPr/>
        </p:nvSpPr>
        <p:spPr>
          <a:xfrm>
            <a:off x="356616" y="312724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World: live city, stats, Ready-to-launch dock</a:t>
            </a:r>
          </a:p>
        </p:txBody>
      </p:sp>
      <p:pic>
        <p:nvPicPr>
          <p:cNvPr id="107" name="Picture 106" descr="img_w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1256" y="1463040"/>
            <a:ext cx="2697480" cy="158102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8" name="TextBox 107"/>
          <p:cNvSpPr txBox="1"/>
          <p:nvPr/>
        </p:nvSpPr>
        <p:spPr>
          <a:xfrm>
            <a:off x="3191256" y="312724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Launch Studio: Obsidian-style knowledge graph</a:t>
            </a:r>
          </a:p>
        </p:txBody>
      </p:sp>
      <p:pic>
        <p:nvPicPr>
          <p:cNvPr id="109" name="Picture 108" descr="img_w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896" y="1463040"/>
            <a:ext cx="2697480" cy="158102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6025896" y="312724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Insights: Hoardings by site and facing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56616" y="37033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502920" y="379476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Pages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02920" y="4160520"/>
            <a:ext cx="1188720" cy="274320"/>
          </a:xfrm>
          <a:prstGeom prst="roundRect">
            <a:avLst>
              <a:gd name="adj" fmla="val 43333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/globe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4498848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intro fly-in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856232" y="4160520"/>
            <a:ext cx="1188720" cy="274320"/>
          </a:xfrm>
          <a:prstGeom prst="roundRect">
            <a:avLst>
              <a:gd name="adj" fmla="val 43333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/world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56232" y="4498848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home: live city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209544" y="4160520"/>
            <a:ext cx="1188720" cy="274320"/>
          </a:xfrm>
          <a:prstGeom prst="roundRect">
            <a:avLst>
              <a:gd name="adj" fmla="val 43333"/>
            </a:avLst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/launch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209544" y="4498848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Launch Studio, 5 steps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562855" y="4160520"/>
            <a:ext cx="1188720" cy="274320"/>
          </a:xfrm>
          <a:prstGeom prst="roundRect">
            <a:avLst>
              <a:gd name="adj" fmla="val 43333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/insights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62855" y="4498848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8 tabs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916168" y="4160520"/>
            <a:ext cx="1188720" cy="274320"/>
          </a:xfrm>
          <a:prstGeom prst="roundRect">
            <a:avLst>
              <a:gd name="adj" fmla="val 43333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/people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916168" y="4498848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1,000 profiles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269480" y="4160520"/>
            <a:ext cx="1188720" cy="274320"/>
          </a:xfrm>
          <a:prstGeom prst="roundRect">
            <a:avLst>
              <a:gd name="adj" fmla="val 43333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/guide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69480" y="4498848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how it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828800" y="1143000"/>
            <a:ext cx="4663440" cy="3749039"/>
          </a:xfrm>
          <a:prstGeom prst="roundRect">
            <a:avLst>
              <a:gd name="adj" fmla="val 2439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1938528" y="1188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Google Cloud · asia-south1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74320" y="2423160"/>
            <a:ext cx="13716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202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347472" y="2478024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Browser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7472" y="2706624"/>
            <a:ext cx="1225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React · Phaser 3 city · cobe globe · ECharts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965960" y="1463040"/>
            <a:ext cx="14630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F9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2039112" y="1517904"/>
            <a:ext cx="1316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9AB00"/>
                </a:solidFill>
                <a:latin typeface="Google Sans Flex SemiBold"/>
                <a:ea typeface="Google Sans Flex SemiBold"/>
                <a:cs typeface="Google Sans Flex SemiBold"/>
              </a:rPr>
              <a:t>Firebase Hosting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39112" y="1746504"/>
            <a:ext cx="1316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web app, /api rewrite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965960" y="242316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2039112" y="2478024"/>
            <a:ext cx="1316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Cloud Run: mirava-api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039112" y="2706624"/>
            <a:ext cx="1316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FastAPI · Launch Studio · Insights (ADK) · 0→5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794760" y="2423160"/>
            <a:ext cx="1600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3867912" y="2478024"/>
            <a:ext cx="1453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Cloud Run: world-engine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67912" y="2706624"/>
            <a:ext cx="1453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always-on single writer · min=max=1 · /live WebSocket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965960" y="3611880"/>
            <a:ext cx="1463040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2039112" y="3666744"/>
            <a:ext cx="1316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A4335"/>
                </a:solidFill>
                <a:latin typeface="Google Sans Flex SemiBold"/>
                <a:ea typeface="Google Sans Flex SemiBold"/>
                <a:cs typeface="Google Sans Flex SemiBold"/>
              </a:rPr>
              <a:t>Model Armor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039112" y="3895344"/>
            <a:ext cx="1316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screens uploads + questions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794760" y="146304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F9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3867912" y="1517904"/>
            <a:ext cx="1453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9AB00"/>
                </a:solidFill>
                <a:latin typeface="Google Sans Flex SemiBold"/>
                <a:ea typeface="Google Sans Flex SemiBold"/>
                <a:cs typeface="Google Sans Flex SemiBold"/>
              </a:rPr>
              <a:t>Firestore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67912" y="1746504"/>
            <a:ext cx="1453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state · lease · memories + vector index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669280" y="1463040"/>
            <a:ext cx="731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5742432" y="151790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8E3E"/>
                </a:solidFill>
                <a:latin typeface="Google Sans Flex SemiBold"/>
                <a:ea typeface="Google Sans Flex SemiBold"/>
                <a:cs typeface="Google Sans Flex SemiBold"/>
              </a:rPr>
              <a:t>GCS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42432" y="1746504"/>
            <a:ext cx="5852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checkpoints · uploads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794760" y="3611880"/>
            <a:ext cx="1600200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3867912" y="3666744"/>
            <a:ext cx="1453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8E3E"/>
                </a:solidFill>
                <a:latin typeface="Google Sans Flex SemiBold"/>
                <a:ea typeface="Google Sans Flex SemiBold"/>
                <a:cs typeface="Google Sans Flex SemiBold"/>
              </a:rPr>
              <a:t>Pub/Sub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867912" y="3895344"/>
            <a:ext cx="1453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world-events · world-texts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669280" y="3611880"/>
            <a:ext cx="731520" cy="1143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5742432" y="366674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BigQuery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742432" y="3895344"/>
            <a:ext cx="5852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events · texts · views · vector search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965960" y="429768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2039112" y="4352544"/>
            <a:ext cx="1316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Secret Mgr · Scheduler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039112" y="4581144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key · 5-min watchdog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794760" y="429768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3867912" y="4352544"/>
            <a:ext cx="1453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Build · Monitoring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67912" y="4581144"/>
            <a:ext cx="1453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CI/CD · uptime · spend alerts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720840" y="2103120"/>
            <a:ext cx="2103120" cy="1188720"/>
          </a:xfrm>
          <a:prstGeom prst="roundRect">
            <a:avLst>
              <a:gd name="adj" fmla="val 5384"/>
            </a:avLst>
          </a:prstGeom>
          <a:solidFill>
            <a:srgbClr val="FCE8E6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6793992" y="2157984"/>
            <a:ext cx="19568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A4335"/>
                </a:solidFill>
                <a:latin typeface="Google Sans Flex SemiBold"/>
                <a:ea typeface="Google Sans Flex SemiBold"/>
                <a:cs typeface="Google Sans Flex SemiBold"/>
              </a:rPr>
              <a:t>Gemini 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793992" y="2386584"/>
            <a:ext cx="19568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Pro: Insights, claim risk
Flash: dialogues, creatives
Flash-Lite: thoughts, chats, decisions
Embedding: 768-d memory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720840" y="361188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793992" y="3666744"/>
            <a:ext cx="19568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8E3E"/>
                </a:solidFill>
                <a:latin typeface="Google Sans Flex SemiBold"/>
                <a:ea typeface="Google Sans Flex SemiBold"/>
                <a:cs typeface="Google Sans Flex SemiBold"/>
              </a:rPr>
              <a:t>Google ADK agents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93992" y="3895344"/>
            <a:ext cx="1956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Insights assistant · salesperson · interviewer · understanding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645920" y="2852928"/>
            <a:ext cx="32004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0120" y="1810512"/>
            <a:ext cx="1005840" cy="612648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429000" y="2852928"/>
            <a:ext cx="36576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590288" y="2148840"/>
            <a:ext cx="0" cy="27432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394960" y="2148840"/>
            <a:ext cx="457200" cy="27432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590288" y="3291840"/>
            <a:ext cx="0" cy="32004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394960" y="3886200"/>
            <a:ext cx="27432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2697480" y="3291840"/>
            <a:ext cx="0" cy="32004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394960" y="2697480"/>
            <a:ext cx="1325880" cy="0"/>
          </a:xfrm>
          <a:prstGeom prst="line">
            <a:avLst/>
          </a:prstGeom>
          <a:ln w="15875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400800" y="4069080"/>
            <a:ext cx="320040" cy="0"/>
          </a:xfrm>
          <a:prstGeom prst="line">
            <a:avLst/>
          </a:prstGeom>
          <a:ln w="15875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274320" y="342900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Only world-engine writes world state (Firestore lease). The API reads, or sends POST /commands.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56616" y="1033271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Every Google service has one clear job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56616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Google Cloud &amp; Google AI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56616" y="1691640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448056" y="1783080"/>
            <a:ext cx="146304" cy="14630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368" y="17556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 3 Pro / Flash / Flash-Lite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8056" y="20756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thinking, talking, Insights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203704" y="1691640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2295144" y="1783080"/>
            <a:ext cx="146304" cy="146304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505456" y="17556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 Embedding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295144" y="20756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768-d memory + text search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050791" y="1691640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4142231" y="1783080"/>
            <a:ext cx="146304" cy="146304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52544" y="17556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Google ADK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42231" y="20756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4 tool-using agents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56616" y="2478024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448056" y="2569464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58368" y="25420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Cloud Run ×2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8056" y="286207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always-on engine + API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203704" y="2478024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2295144" y="2569464"/>
            <a:ext cx="146304" cy="14630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05456" y="25420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Firestore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295144" y="286207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state, lease, vector memories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050791" y="2478024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4142231" y="2569464"/>
            <a:ext cx="146304" cy="146304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52544" y="25420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BigQuery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42231" y="286207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event log, views, VECTOR_SEARCH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56616" y="3264408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448056" y="3355848"/>
            <a:ext cx="146304" cy="146304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8368" y="33284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Pub/Sub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48056" y="364845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BigQuery subscriptions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203704" y="3264408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2295144" y="3355848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505456" y="33284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Cloud Storage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95144" y="364845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checkpoints, creatives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050791" y="3264408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4142231" y="3355848"/>
            <a:ext cx="146304" cy="14630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352544" y="33284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Model Armor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142231" y="364845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prompt-injection screening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56616" y="4050791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448056" y="4142231"/>
            <a:ext cx="146304" cy="146304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58368" y="4114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Firebase Hosting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48056" y="44348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web app + /api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203704" y="4050791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2295144" y="4142231"/>
            <a:ext cx="146304" cy="146304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505456" y="4114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Secret Manager · Scheduler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295144" y="44348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key, health watchdog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050791" y="4050791"/>
            <a:ext cx="1755648" cy="694944"/>
          </a:xfrm>
          <a:prstGeom prst="roundRect">
            <a:avLst>
              <a:gd name="adj" fmla="val 1052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4142231" y="4142231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/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352544" y="4114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Cloud Build · Monitoring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142231" y="44348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CI/CD, alerts, dashboard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035040" y="1371600"/>
            <a:ext cx="2743200" cy="3474720"/>
          </a:xfrm>
          <a:prstGeom prst="roundRect">
            <a:avLst>
              <a:gd name="adj" fmla="val 2666"/>
            </a:avLst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6199632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Application stack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199632" y="184708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B4F8"/>
                </a:solidFill>
                <a:latin typeface="Google Sans Flex SemiBold"/>
                <a:ea typeface="Google Sans Flex SemiBold"/>
                <a:cs typeface="Google Sans Flex SemiBold"/>
              </a:rPr>
              <a:t>FRONTEND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199632" y="204825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React 18 · Vite · TypeScript · Phaser 3 · cobe · react-force-graph · ECharts · Tailwind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199632" y="257860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28B82"/>
                </a:solidFill>
                <a:latin typeface="Google Sans Flex SemiBold"/>
                <a:ea typeface="Google Sans Flex SemiBold"/>
                <a:cs typeface="Google Sans Flex SemiBold"/>
              </a:rPr>
              <a:t>BACKEND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199632" y="277977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Python 3.12 · FastAPI · pydantic v2 · asyncio + NumPy · A* on road graph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199632" y="331012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DD663"/>
                </a:solidFill>
                <a:latin typeface="Google Sans Flex SemiBold"/>
                <a:ea typeface="Google Sans Flex SemiBold"/>
                <a:cs typeface="Google Sans Flex SemiBold"/>
              </a:rPr>
              <a:t>DATA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199632" y="351129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OpenStreetMap → Tiled map, road graph, places, 60 hoarding sites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199632" y="404164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1C995"/>
                </a:solidFill>
                <a:latin typeface="Google Sans Flex SemiBold"/>
                <a:ea typeface="Google Sans Flex SemiBold"/>
                <a:cs typeface="Google Sans Flex SemiBold"/>
              </a:rPr>
              <a:t>QUALITY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199632" y="424281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pytest · Playwright + pixelmatch visual tests · ruff · mypy · gitleaks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56616" y="1033271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 budget governor keeps the whole city affordable. It never stops, it only gets quieter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56616" y="1417320"/>
            <a:ext cx="1993392" cy="1234440"/>
          </a:xfrm>
          <a:prstGeom prst="roundRect">
            <a:avLst>
              <a:gd name="adj" fmla="val 592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21208" y="15087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$15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21208" y="21031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per day cap on background
agent thinking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487168" y="1417320"/>
            <a:ext cx="1993392" cy="1234440"/>
          </a:xfrm>
          <a:prstGeom prst="roundRect">
            <a:avLst>
              <a:gd name="adj" fmla="val 592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2651760" y="15087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E8E3E"/>
                </a:solidFill>
                <a:latin typeface="Google Sans Flex SemiBold"/>
                <a:ea typeface="Google Sans Flex SemiBold"/>
                <a:cs typeface="Google Sans Flex SemiBold"/>
              </a:rPr>
              <a:t>$5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51760" y="21031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per day cap on interactive
Insights, polls, interviews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617720" y="1417320"/>
            <a:ext cx="1993392" cy="1234440"/>
          </a:xfrm>
          <a:prstGeom prst="roundRect">
            <a:avLst>
              <a:gd name="adj" fmla="val 592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4782312" y="15087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A4335"/>
                </a:solidFill>
                <a:latin typeface="Google Sans Flex SemiBold"/>
                <a:ea typeface="Google Sans Flex SemiBold"/>
                <a:cs typeface="Google Sans Flex SemiBold"/>
              </a:rPr>
              <a:t>$0.003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82312" y="21031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average cost of one
rendered conversation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748272" y="1417320"/>
            <a:ext cx="1993392" cy="1234440"/>
          </a:xfrm>
          <a:prstGeom prst="roundRect">
            <a:avLst>
              <a:gd name="adj" fmla="val 592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6912864" y="15087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9AB00"/>
                </a:solidFill>
                <a:latin typeface="Google Sans Flex SemiBold"/>
                <a:ea typeface="Google Sans Flex SemiBold"/>
                <a:cs typeface="Google Sans Flex SemiBold"/>
              </a:rPr>
              <a:t>$0.52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912864" y="21031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to generate 950 Gemini
personas at genesis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56616" y="283464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920240"/>
              </a:tblGrid>
              <a:tr h="40233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Estimate / month (simulated demo scale)</a:t>
                      </a:r>
                    </a:p>
                  </a:txBody>
                  <a:tcPr marL="73152" marR="73152" marT="36576" marB="36576">
                    <a:solidFill>
                      <a:srgbClr val="2021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Cloud Run world-engine (2 vCPU, 4 GiB, always on)</a:t>
                      </a:r>
                    </a:p>
                  </a:txBody>
                  <a:tcPr marL="73152" marR="73152"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≈ $110</a:t>
                      </a:r>
                    </a:p>
                  </a:txBody>
                  <a:tcPr marL="73152" marR="73152" marT="36576" marB="36576">
                    <a:solidFill>
                      <a:srgbClr val="F1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Cloud Run API, Firestore, Pub/Sub, BigQuery, GCS, Hosting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≈ $15–25 (mostly free tier)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Gemini 3 via governor (background + interactive caps)</a:t>
                      </a:r>
                    </a:p>
                  </a:txBody>
                  <a:tcPr marL="73152" marR="73152" marT="36576" marB="36576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≤ $600 at cap · observed ≈ $1/day</a:t>
                      </a:r>
                    </a:p>
                  </a:txBody>
                  <a:tcPr marL="73152" marR="73152" marT="36576" marB="36576">
                    <a:solidFill>
                      <a:srgbClr val="F1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Total for an always-on 1,000-agent city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</a:rPr>
                        <a:t>≈ $150 typical · ≤ $750 worst case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5669280" y="2834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Cost levers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669280" y="3127248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Attention model first: no model call for pass or glance</a:t>
            </a:r>
          </a:p>
          <a:p>
            <a:pPr algn="l" marL="182880" indent="-18288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Flash-Lite for most calls; 32 decisions per batch</a:t>
            </a:r>
          </a:p>
          <a:p>
            <a:pPr algn="l" marL="182880" indent="-18288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Hourly caps by priority class (store talk &gt; ad thoughts &gt; chats)</a:t>
            </a:r>
          </a:p>
          <a:p>
            <a:pPr algn="l" marL="182880" indent="-182880">
              <a:spcAft>
                <a:spcPts val="400"/>
              </a:spcAft>
              <a:buClr>
                <a:srgbClr val="1E8E3E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Over cap → rule/template fallback; the clock can slow 1×–3×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56616" y="1033271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Live at mirava-ai-hack.web.app (all data simulated)</a:t>
            </a:r>
          </a:p>
        </p:txBody>
      </p:sp>
      <p:pic>
        <p:nvPicPr>
          <p:cNvPr id="137" name="Picture 136" descr="img_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1371600"/>
            <a:ext cx="3200400" cy="205058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8" name="TextBox 137"/>
          <p:cNvSpPr txBox="1"/>
          <p:nvPr/>
        </p:nvSpPr>
        <p:spPr>
          <a:xfrm>
            <a:off x="356616" y="3438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World · Hoardings lens with live 'Happening now' feed</a:t>
            </a:r>
          </a:p>
        </p:txBody>
      </p:sp>
      <p:pic>
        <p:nvPicPr>
          <p:cNvPr id="139" name="Picture 138" descr="img_s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1371600"/>
            <a:ext cx="3200400" cy="188103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0" name="TextBox 139"/>
          <p:cNvSpPr txBox="1"/>
          <p:nvPr/>
        </p:nvSpPr>
        <p:spPr>
          <a:xfrm>
            <a:off x="3703320" y="3291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Insights · Ask Gemini: SQL, chart, verbatim private quotes</a:t>
            </a:r>
          </a:p>
        </p:txBody>
      </p:sp>
      <p:pic>
        <p:nvPicPr>
          <p:cNvPr id="141" name="Picture 140" descr="img_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" y="3749039"/>
            <a:ext cx="1570515" cy="109728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2" name="TextBox 141"/>
          <p:cNvSpPr txBox="1"/>
          <p:nvPr/>
        </p:nvSpPr>
        <p:spPr>
          <a:xfrm>
            <a:off x="2331720" y="3794760"/>
            <a:ext cx="1280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Launch Studio · automatic hoarding plan with reasons</a:t>
            </a:r>
          </a:p>
        </p:txBody>
      </p:sp>
      <p:pic>
        <p:nvPicPr>
          <p:cNvPr id="143" name="Picture 142" descr="img_con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1371600"/>
            <a:ext cx="1885507" cy="347472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4" name="TextBox 143"/>
          <p:cNvSpPr txBox="1"/>
          <p:nvPr/>
        </p:nvSpPr>
        <p:spPr>
          <a:xfrm>
            <a:off x="3703320" y="36118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Profile → Conversations (right): </a:t>
            </a: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Meera's private prep chose what to share and withheld her budget. The dialogue only ever sees that share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56616" y="1033271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Evals: 200 agents · 2 sim days · deterministic seed; UI pixel checks against the mockup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56616" y="1417320"/>
            <a:ext cx="1993392" cy="1188720"/>
          </a:xfrm>
          <a:prstGeom prst="roundRect">
            <a:avLst>
              <a:gd name="adj" fmla="val 615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521208" y="14904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E8E3E"/>
                </a:solidFill>
                <a:latin typeface="Google Sans Flex SemiBold"/>
                <a:ea typeface="Google Sans Flex SemiBold"/>
                <a:cs typeface="Google Sans Flex SemiBold"/>
              </a:rPr>
              <a:t>100%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21208" y="205740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Insights faithfulness
(target ≥ 95%)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487168" y="1417320"/>
            <a:ext cx="1993392" cy="1188720"/>
          </a:xfrm>
          <a:prstGeom prst="roundRect">
            <a:avLst>
              <a:gd name="adj" fmla="val 615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2651760" y="14904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100%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651760" y="205740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quotes verbatim
from the log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17720" y="1417320"/>
            <a:ext cx="1993392" cy="1188720"/>
          </a:xfrm>
          <a:prstGeom prst="roundRect">
            <a:avLst>
              <a:gd name="adj" fmla="val 615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782312" y="14904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A4335"/>
                </a:solidFill>
                <a:latin typeface="Google Sans Flex SemiBold"/>
                <a:ea typeface="Google Sans Flex SemiBold"/>
                <a:cs typeface="Google Sans Flex SemiBold"/>
              </a:rPr>
              <a:t>6 / 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82312" y="205740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survey-realism
checks pass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748272" y="1417320"/>
            <a:ext cx="1993392" cy="1188720"/>
          </a:xfrm>
          <a:prstGeom prst="roundRect">
            <a:avLst>
              <a:gd name="adj" fmla="val 615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6912864" y="14904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9AB00"/>
                </a:solidFill>
                <a:latin typeface="Google Sans Flex SemiBold"/>
                <a:ea typeface="Google Sans Flex SemiBold"/>
                <a:cs typeface="Google Sans Flex SemiBold"/>
              </a:rPr>
              <a:t>29 / 29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912864" y="205740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gated UI screens pass
the pixel check</a:t>
            </a:r>
          </a:p>
        </p:txBody>
      </p:sp>
      <p:graphicFrame>
        <p:nvGraphicFramePr>
          <p:cNvPr id="157" name="Chart 156"/>
          <p:cNvGraphicFramePr>
            <a:graphicFrameLocks noGrp="1"/>
          </p:cNvGraphicFramePr>
          <p:nvPr/>
        </p:nvGraphicFramePr>
        <p:xfrm>
          <a:off x="356616" y="2743200"/>
          <a:ext cx="4846320" cy="214884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58" name="TextBox 157"/>
          <p:cNvSpPr txBox="1"/>
          <p:nvPr/>
        </p:nvSpPr>
        <p:spPr>
          <a:xfrm>
            <a:off x="544068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Engineering &amp; scale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440680" y="3035808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lr>
                <a:srgbClr val="1A73E8"/>
              </a:buClr>
              <a:buChar char="•"/>
            </a:pPr>
            <a:r>
              <a:rPr sz="95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152 automated tests </a:t>
            </a: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(134 Python + 18 web); lint, types, gitleaks clean</a:t>
            </a:r>
          </a:p>
          <a:p>
            <a:pPr algn="l" marL="182880" indent="-182880">
              <a:spcAft>
                <a:spcPts val="400"/>
              </a:spcAft>
              <a:buClr>
                <a:srgbClr val="1A73E8"/>
              </a:buClr>
              <a:buChar char="•"/>
            </a:pPr>
            <a:r>
              <a:rPr sz="95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Map: </a:t>
            </a: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299×305 tiles, 3,501 road nodes, all reachable; 12,179 places</a:t>
            </a:r>
          </a:p>
          <a:p>
            <a:pPr algn="l" marL="182880" indent="-182880">
              <a:spcAft>
                <a:spcPts val="400"/>
              </a:spcAft>
              <a:buClr>
                <a:srgbClr val="1A73E8"/>
              </a:buClr>
              <a:buChar char="•"/>
            </a:pPr>
            <a:r>
              <a:rPr sz="95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Live cloud day: </a:t>
            </a: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149 rendered ad thoughts for $0.88 total engine spend</a:t>
            </a:r>
          </a:p>
          <a:p>
            <a:pPr algn="l" marL="182880" indent="-182880">
              <a:spcAft>
                <a:spcPts val="400"/>
              </a:spcAft>
              <a:buClr>
                <a:srgbClr val="1A73E8"/>
              </a:buClr>
              <a:buChar char="•"/>
            </a:pPr>
            <a:r>
              <a:rPr sz="95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Privacy: </a:t>
            </a: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marker-fact tests prove no memory leaks between agents</a:t>
            </a:r>
          </a:p>
          <a:p>
            <a:pPr algn="l" marL="182880" indent="-182880">
              <a:spcAft>
                <a:spcPts val="400"/>
              </a:spcAft>
              <a:buClr>
                <a:srgbClr val="1A73E8"/>
              </a:buClr>
              <a:buChar char="•"/>
            </a:pPr>
            <a:r>
              <a:rPr sz="950" b="1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Determinism: </a:t>
            </a: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same seed + same inputs ⇒ same events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176" y="603504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356616" y="1325880"/>
            <a:ext cx="384048" cy="38404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1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786384" y="1517904"/>
            <a:ext cx="1655064" cy="0"/>
          </a:xfrm>
          <a:prstGeom prst="line">
            <a:avLst/>
          </a:prstGeom>
          <a:ln w="19050">
            <a:solidFill>
              <a:srgbClr val="DADC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356616" y="1874519"/>
            <a:ext cx="1993392" cy="2103120"/>
          </a:xfrm>
          <a:prstGeom prst="roundRect">
            <a:avLst>
              <a:gd name="adj" fmla="val 366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93776" y="196596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Now · hackathon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93776" y="2331720"/>
            <a:ext cx="17830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1A73E8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1 city, 1,000 agents, smartphones</a:t>
            </a:r>
          </a:p>
          <a:p>
            <a:pPr algn="l" marL="182880" indent="-182880">
              <a:spcAft>
                <a:spcPts val="500"/>
              </a:spcAft>
              <a:buClr>
                <a:srgbClr val="1A73E8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Always-on on Cloud Run</a:t>
            </a:r>
          </a:p>
          <a:p>
            <a:pPr algn="l" marL="182880" indent="-182880">
              <a:spcAft>
                <a:spcPts val="500"/>
              </a:spcAft>
              <a:buClr>
                <a:srgbClr val="1A73E8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Ask Gemini + OOH dashboards</a:t>
            </a:r>
          </a:p>
        </p:txBody>
      </p:sp>
      <p:sp>
        <p:nvSpPr>
          <p:cNvPr id="157" name="Oval 156"/>
          <p:cNvSpPr/>
          <p:nvPr/>
        </p:nvSpPr>
        <p:spPr>
          <a:xfrm>
            <a:off x="2487168" y="1325880"/>
            <a:ext cx="384048" cy="38404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2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2916936" y="1517904"/>
            <a:ext cx="1655064" cy="0"/>
          </a:xfrm>
          <a:prstGeom prst="line">
            <a:avLst/>
          </a:prstGeom>
          <a:ln w="19050">
            <a:solidFill>
              <a:srgbClr val="DADC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/>
          <p:cNvSpPr/>
          <p:nvPr/>
        </p:nvSpPr>
        <p:spPr>
          <a:xfrm>
            <a:off x="2487168" y="1874519"/>
            <a:ext cx="1993392" cy="2103120"/>
          </a:xfrm>
          <a:prstGeom prst="roundRect">
            <a:avLst>
              <a:gd name="adj" fmla="val 366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2624328" y="196596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8E3E"/>
                </a:solidFill>
                <a:latin typeface="Google Sans Flex SemiBold"/>
                <a:ea typeface="Google Sans Flex SemiBold"/>
                <a:cs typeface="Google Sans Flex SemiBold"/>
              </a:rPr>
              <a:t>Next · V1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624328" y="2331720"/>
            <a:ext cx="17830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1E8E3E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Any category via category bootstrap</a:t>
            </a:r>
          </a:p>
          <a:p>
            <a:pPr algn="l" marL="182880" indent="-182880">
              <a:spcAft>
                <a:spcPts val="500"/>
              </a:spcAft>
              <a:buClr>
                <a:srgbClr val="1E8E3E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What-if forks: test plan A vs B in parallel worlds</a:t>
            </a:r>
          </a:p>
          <a:p>
            <a:pPr algn="l" marL="182880" indent="-182880">
              <a:spcAft>
                <a:spcPts val="500"/>
              </a:spcAft>
              <a:buClr>
                <a:srgbClr val="1E8E3E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Vertex AI backend + Agent Engine Memory Bank</a:t>
            </a:r>
          </a:p>
        </p:txBody>
      </p:sp>
      <p:sp>
        <p:nvSpPr>
          <p:cNvPr id="162" name="Oval 161"/>
          <p:cNvSpPr/>
          <p:nvPr/>
        </p:nvSpPr>
        <p:spPr>
          <a:xfrm>
            <a:off x="4617720" y="1325880"/>
            <a:ext cx="384048" cy="38404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3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5047488" y="1517904"/>
            <a:ext cx="1655064" cy="0"/>
          </a:xfrm>
          <a:prstGeom prst="line">
            <a:avLst/>
          </a:prstGeom>
          <a:ln w="19050">
            <a:solidFill>
              <a:srgbClr val="DADC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4617720" y="1874519"/>
            <a:ext cx="1993392" cy="2103120"/>
          </a:xfrm>
          <a:prstGeom prst="roundRect">
            <a:avLst>
              <a:gd name="adj" fmla="val 366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4754880" y="196596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A4335"/>
                </a:solidFill>
                <a:latin typeface="Google Sans Flex SemiBold"/>
                <a:ea typeface="Google Sans Flex SemiBold"/>
                <a:cs typeface="Google Sans Flex SemiBold"/>
              </a:rPr>
              <a:t>Scale · 10k–100k agents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54880" y="2331720"/>
            <a:ext cx="17830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EA4335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Area-sharded engines on GKE Autopilot</a:t>
            </a:r>
          </a:p>
          <a:p>
            <a:pPr algn="l" marL="182880" indent="-182880">
              <a:spcAft>
                <a:spcPts val="500"/>
              </a:spcAft>
              <a:buClr>
                <a:srgbClr val="EA4335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Memorystore + Bigtable hot state</a:t>
            </a:r>
          </a:p>
          <a:p>
            <a:pPr algn="l" marL="182880" indent="-182880">
              <a:spcAft>
                <a:spcPts val="500"/>
              </a:spcAft>
              <a:buClr>
                <a:srgbClr val="EA4335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More Indian and APAC cities from OSM</a:t>
            </a:r>
          </a:p>
        </p:txBody>
      </p:sp>
      <p:sp>
        <p:nvSpPr>
          <p:cNvPr id="167" name="Oval 166"/>
          <p:cNvSpPr/>
          <p:nvPr/>
        </p:nvSpPr>
        <p:spPr>
          <a:xfrm>
            <a:off x="6748272" y="1325880"/>
            <a:ext cx="384048" cy="384048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4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748272" y="1874519"/>
            <a:ext cx="1993392" cy="2103120"/>
          </a:xfrm>
          <a:prstGeom prst="roundRect">
            <a:avLst>
              <a:gd name="adj" fmla="val 366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6885432" y="196596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9AB00"/>
                </a:solidFill>
                <a:latin typeface="Google Sans Flex SemiBold"/>
                <a:ea typeface="Google Sans Flex SemiBold"/>
                <a:cs typeface="Google Sans Flex SemiBold"/>
              </a:rPr>
              <a:t>Product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885432" y="2331720"/>
            <a:ext cx="17830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F9AB00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Self-serve brand workspaces</a:t>
            </a:r>
          </a:p>
          <a:p>
            <a:pPr algn="l" marL="182880" indent="-182880">
              <a:spcAft>
                <a:spcPts val="500"/>
              </a:spcAft>
              <a:buClr>
                <a:srgbClr val="F9AB00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Calibrate against real campaign results</a:t>
            </a:r>
          </a:p>
          <a:p>
            <a:pPr algn="l" marL="182880" indent="-182880">
              <a:spcAft>
                <a:spcPts val="500"/>
              </a:spcAft>
              <a:buClr>
                <a:srgbClr val="F9AB00"/>
              </a:buClr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Media planner exports for OOH buyers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56616" y="4160520"/>
            <a:ext cx="8412480" cy="685800"/>
          </a:xfrm>
          <a:prstGeom prst="roundRect">
            <a:avLst>
              <a:gd name="adj" fmla="val 10666"/>
            </a:avLst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DD663"/>
                </a:solidFill>
                <a:latin typeface="Google Sans Flex SemiBold"/>
                <a:ea typeface="Google Sans Flex SemiBold"/>
                <a:cs typeface="Google Sans Flex SemiBold"/>
              </a:rPr>
              <a:t>Market: </a:t>
            </a:r>
            <a:r>
              <a:rPr sz="1050" b="0" i="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India's out-of-home and launch spend is decided with little evidence. mirava.ai turns 'which wall, which direction, which audience' into a measured, rehearsable answer, before the money is spent.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56616" y="685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Provide links to your: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56616" y="1417320"/>
            <a:ext cx="8412480" cy="841248"/>
          </a:xfrm>
          <a:prstGeom prst="roundRect">
            <a:avLst>
              <a:gd name="adj" fmla="val 86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548640" y="1600200"/>
            <a:ext cx="475488" cy="47548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34440" y="153619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GitHub Public Repository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234440" y="185623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hlinkClick r:id="rId5"/>
              </a:rPr>
              <a:t>https://github.com/SaiCharan-99/mirava.ai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56616" y="2441448"/>
            <a:ext cx="8412480" cy="841248"/>
          </a:xfrm>
          <a:prstGeom prst="roundRect">
            <a:avLst>
              <a:gd name="adj" fmla="val 86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548640" y="2624328"/>
            <a:ext cx="475488" cy="47548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34440" y="256032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Demo Video Link (3 Minutes)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34440" y="288036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A4335"/>
                </a:solidFill>
                <a:latin typeface="Google Sans Flex"/>
                <a:ea typeface="Google Sans Flex"/>
                <a:cs typeface="Google Sans Flex"/>
              </a:rPr>
              <a:t>&lt;add YouTube / Drive link&gt;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56616" y="3465576"/>
            <a:ext cx="8412480" cy="841248"/>
          </a:xfrm>
          <a:prstGeom prst="roundRect">
            <a:avLst>
              <a:gd name="adj" fmla="val 86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548640" y="3648456"/>
            <a:ext cx="475488" cy="47548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234440" y="3584448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Final Product Link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34440" y="3904487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8E3E"/>
                </a:solidFill>
                <a:latin typeface="Google Sans Flex"/>
                <a:ea typeface="Google Sans Flex"/>
                <a:cs typeface="Google Sans Flex"/>
                <a:hlinkClick r:id="rId6"/>
              </a:rPr>
              <a:t>https://mirava-ai-hack.web.app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56616" y="45262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API health: mirava-ai-hack.web.app/api/healthz · All people, numbers, stores and ads are simulated; stores and media are fictional.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56616" y="685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Private by construction, safe by default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56616" y="10972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Agents share only what they choose to say. The demo is built to be trusted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56616" y="150876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ounded Rectangle 169"/>
          <p:cNvSpPr/>
          <p:nvPr/>
        </p:nvSpPr>
        <p:spPr>
          <a:xfrm>
            <a:off x="493776" y="1627632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8E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PRIVATE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93776" y="19202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E5CF6"/>
                </a:solidFill>
                <a:latin typeface="Google Sans Flex SemiBold"/>
                <a:ea typeface="Google Sans Flex SemiBold"/>
                <a:cs typeface="Google Sans Flex SemiBold"/>
              </a:rPr>
              <a:t>Private prep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93776" y="221284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What do I want to share, ask or withhold?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3054096" y="2075688"/>
            <a:ext cx="15544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/>
          <p:cNvSpPr/>
          <p:nvPr/>
        </p:nvSpPr>
        <p:spPr>
          <a:xfrm>
            <a:off x="3209544" y="150876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ounded Rectangle 174"/>
          <p:cNvSpPr/>
          <p:nvPr/>
        </p:nvSpPr>
        <p:spPr>
          <a:xfrm>
            <a:off x="3346704" y="162763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SHARED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346704" y="19202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73E8"/>
                </a:solidFill>
                <a:latin typeface="Google Sans Flex SemiBold"/>
                <a:ea typeface="Google Sans Flex SemiBold"/>
                <a:cs typeface="Google Sans Flex SemiBold"/>
              </a:rPr>
              <a:t>Dialogue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46704" y="221284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Built only from both SharePlans + public text. ≤10 messages each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07024" y="2075688"/>
            <a:ext cx="15544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6062472" y="150876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ounded Rectangle 179"/>
          <p:cNvSpPr/>
          <p:nvPr/>
        </p:nvSpPr>
        <p:spPr>
          <a:xfrm>
            <a:off x="6199632" y="1627632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8E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PRIVATE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199632" y="19202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E5CF6"/>
                </a:solidFill>
                <a:latin typeface="Google Sans Flex SemiBold"/>
                <a:ea typeface="Google Sans Flex SemiBold"/>
                <a:cs typeface="Google Sans Flex SemiBold"/>
              </a:rPr>
              <a:t>Private debrief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199632" y="221284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What did I learn? Memory and beliefs update for me only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56616" y="28803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512064" y="3108960"/>
            <a:ext cx="402336" cy="40233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✓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88136" y="299008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MemoryStore(agent_id)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88136" y="326440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reads and writes only that agent's memories; every prompt is built for one agent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617720" y="28803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4773168" y="3108960"/>
            <a:ext cx="402336" cy="40233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✓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349240" y="299008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Marker-fact tests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349240" y="326440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plant secrets in one agent and prove they never appear in another's prompt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56616" y="38862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512064" y="4114800"/>
            <a:ext cx="402336" cy="402336"/>
          </a:xfrm>
          <a:prstGeom prst="ellipse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✓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88136" y="399592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Model Armor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88136" y="42702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screens uploads and Insights questions; content is wrapped as data, never instructions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4617720" y="38862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4773168" y="4114800"/>
            <a:ext cx="402336" cy="402336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✓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349240" y="399592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Honest by design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349240" y="42702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fictional stores and media, every number labelled simulated, no political campaigns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